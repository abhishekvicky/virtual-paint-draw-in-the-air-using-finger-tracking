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59" r:id="rId4"/>
    <p:sldId id="260" r:id="rId5"/>
    <p:sldId id="261" r:id="rId6"/>
    <p:sldId id="262" r:id="rId7"/>
    <p:sldId id="257" r:id="rId8"/>
    <p:sldId id="263" r:id="rId9"/>
    <p:sldId id="264" r:id="rId10"/>
    <p:sldId id="268" r:id="rId11"/>
    <p:sldId id="265" r:id="rId12"/>
    <p:sldId id="266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874" y="58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s://bit.ly/3A1uf1Q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-23040" y="0"/>
            <a:ext cx="91897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228600" y="3455640"/>
            <a:ext cx="8686440" cy="12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35400" y="2362680"/>
            <a:ext cx="6575760" cy="137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Google Shape;47;p11"/>
          <p:cNvPicPr/>
          <p:nvPr/>
        </p:nvPicPr>
        <p:blipFill>
          <a:blip r:embed="rId2"/>
          <a:srcRect t="3115" b="-4959"/>
          <a:stretch/>
        </p:blipFill>
        <p:spPr>
          <a:xfrm flipH="1">
            <a:off x="4419720" y="-471852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Google Shape;48;p11"/>
          <p:cNvPicPr/>
          <p:nvPr/>
        </p:nvPicPr>
        <p:blipFill>
          <a:blip r:embed="rId3"/>
          <a:srcRect l="6383" r="6393"/>
          <a:stretch/>
        </p:blipFill>
        <p:spPr>
          <a:xfrm flipH="1">
            <a:off x="5565960" y="-340560"/>
            <a:ext cx="8813520" cy="5851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446840" y="614880"/>
            <a:ext cx="6915960" cy="1846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8" name="Google Shape;53;p13"/>
          <p:cNvPicPr/>
          <p:nvPr/>
        </p:nvPicPr>
        <p:blipFill>
          <a:blip r:embed="rId2"/>
          <a:srcRect t="3115" b="-4959"/>
          <a:stretch/>
        </p:blipFill>
        <p:spPr>
          <a:xfrm>
            <a:off x="-5568840" y="-260532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54;p13"/>
          <p:cNvPicPr/>
          <p:nvPr/>
        </p:nvPicPr>
        <p:blipFill>
          <a:blip r:embed="rId3"/>
          <a:srcRect l="6383" r="6393"/>
          <a:stretch/>
        </p:blipFill>
        <p:spPr>
          <a:xfrm>
            <a:off x="-3469680" y="1772640"/>
            <a:ext cx="881352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body"/>
          </p:nvPr>
        </p:nvSpPr>
        <p:spPr>
          <a:xfrm>
            <a:off x="4888800" y="0"/>
            <a:ext cx="425520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228600" y="3364920"/>
            <a:ext cx="4342680" cy="127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3" name="Google Shape;59;p14"/>
          <p:cNvPicPr/>
          <p:nvPr/>
        </p:nvPicPr>
        <p:blipFill>
          <a:blip r:embed="rId2"/>
          <a:srcRect t="8325" b="8325"/>
          <a:stretch/>
        </p:blipFill>
        <p:spPr>
          <a:xfrm>
            <a:off x="-2659680" y="-4391280"/>
            <a:ext cx="8353440" cy="6962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4187160" y="3023640"/>
            <a:ext cx="4243320" cy="16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title"/>
          </p:nvPr>
        </p:nvSpPr>
        <p:spPr>
          <a:xfrm>
            <a:off x="628560" y="3089880"/>
            <a:ext cx="1940760" cy="16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64;p15"/>
          <p:cNvSpPr/>
          <p:nvPr/>
        </p:nvSpPr>
        <p:spPr>
          <a:xfrm>
            <a:off x="4708440" y="539640"/>
            <a:ext cx="3721680" cy="105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65;p15"/>
          <p:cNvSpPr/>
          <p:nvPr/>
        </p:nvSpPr>
        <p:spPr>
          <a:xfrm>
            <a:off x="4708440" y="1822320"/>
            <a:ext cx="3721680" cy="278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67;p16"/>
          <p:cNvPicPr/>
          <p:nvPr/>
        </p:nvPicPr>
        <p:blipFill>
          <a:blip r:embed="rId2"/>
          <a:srcRect t="3115" b="-4959"/>
          <a:stretch/>
        </p:blipFill>
        <p:spPr>
          <a:xfrm rot="10800000" flipH="1">
            <a:off x="0" y="44316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2918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310320" y="3891960"/>
            <a:ext cx="8523360" cy="75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72;p17"/>
          <p:cNvPicPr/>
          <p:nvPr/>
        </p:nvPicPr>
        <p:blipFill>
          <a:blip r:embed="rId2"/>
          <a:srcRect t="3115" b="-4959"/>
          <a:stretch/>
        </p:blipFill>
        <p:spPr>
          <a:xfrm rot="10800000" flipH="1">
            <a:off x="4696920" y="-259092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body"/>
          </p:nvPr>
        </p:nvSpPr>
        <p:spPr>
          <a:xfrm>
            <a:off x="360" y="0"/>
            <a:ext cx="4885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5208120" y="2760120"/>
            <a:ext cx="3706920" cy="1882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body"/>
          </p:nvPr>
        </p:nvSpPr>
        <p:spPr>
          <a:xfrm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275720" y="2525400"/>
            <a:ext cx="4639680" cy="217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-6840" y="-360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228600" y="3655080"/>
            <a:ext cx="4378320" cy="94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83;p20"/>
          <p:cNvPicPr/>
          <p:nvPr/>
        </p:nvPicPr>
        <p:blipFill>
          <a:blip r:embed="rId2"/>
          <a:srcRect l="6383" r="6393"/>
          <a:stretch/>
        </p:blipFill>
        <p:spPr>
          <a:xfrm rot="10800000" flipH="1">
            <a:off x="4586400" y="-353880"/>
            <a:ext cx="8813520" cy="58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84;p20"/>
          <p:cNvPicPr/>
          <p:nvPr/>
        </p:nvPicPr>
        <p:blipFill>
          <a:blip r:embed="rId3"/>
          <a:srcRect t="3115" b="-4959"/>
          <a:stretch/>
        </p:blipFill>
        <p:spPr>
          <a:xfrm rot="10800000" flipH="1">
            <a:off x="1513800" y="-622008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13160" y="1639080"/>
            <a:ext cx="5357160" cy="132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Google Shape;87;p20"/>
          <p:cNvSpPr/>
          <p:nvPr/>
        </p:nvSpPr>
        <p:spPr>
          <a:xfrm>
            <a:off x="713160" y="4048560"/>
            <a:ext cx="5357160" cy="4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  <a:hlinkClick r:id="rId4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  <a:hlinkClick r:id="rId5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228960" y="3153240"/>
            <a:ext cx="836568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title"/>
          </p:nvPr>
        </p:nvSpPr>
        <p:spPr>
          <a:xfrm>
            <a:off x="228960" y="2219760"/>
            <a:ext cx="136692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89;p21"/>
          <p:cNvPicPr/>
          <p:nvPr/>
        </p:nvPicPr>
        <p:blipFill>
          <a:blip r:embed="rId2"/>
          <a:srcRect l="6383" r="6393"/>
          <a:stretch/>
        </p:blipFill>
        <p:spPr>
          <a:xfrm rot="10800000" flipH="1">
            <a:off x="4023720" y="1527120"/>
            <a:ext cx="8813520" cy="58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Google Shape;90;p21"/>
          <p:cNvPicPr/>
          <p:nvPr/>
        </p:nvPicPr>
        <p:blipFill>
          <a:blip r:embed="rId3"/>
          <a:srcRect t="3115" b="-4959"/>
          <a:stretch/>
        </p:blipFill>
        <p:spPr>
          <a:xfrm rot="10800000" flipH="1">
            <a:off x="4385520" y="-438552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92;p22"/>
          <p:cNvPicPr/>
          <p:nvPr/>
        </p:nvPicPr>
        <p:blipFill>
          <a:blip r:embed="rId2"/>
          <a:srcRect l="6383" r="6393"/>
          <a:stretch/>
        </p:blipFill>
        <p:spPr>
          <a:xfrm rot="10800000" flipH="1">
            <a:off x="4586400" y="-353880"/>
            <a:ext cx="8813520" cy="58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93;p22"/>
          <p:cNvPicPr/>
          <p:nvPr/>
        </p:nvPicPr>
        <p:blipFill>
          <a:blip r:embed="rId3"/>
          <a:srcRect t="3115" b="-4959"/>
          <a:stretch/>
        </p:blipFill>
        <p:spPr>
          <a:xfrm rot="10800000" flipH="1">
            <a:off x="1513800" y="-622008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228600" y="521280"/>
            <a:ext cx="8686440" cy="299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228600" y="3809880"/>
            <a:ext cx="8686440" cy="83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2" name="Google Shape;20;p4"/>
          <p:cNvPicPr/>
          <p:nvPr/>
        </p:nvPicPr>
        <p:blipFill>
          <a:blip r:embed="rId2"/>
          <a:srcRect l="6383" r="6393"/>
          <a:stretch/>
        </p:blipFill>
        <p:spPr>
          <a:xfrm rot="10800000" flipH="1">
            <a:off x="4023720" y="1527120"/>
            <a:ext cx="8813520" cy="58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21;p4"/>
          <p:cNvPicPr/>
          <p:nvPr/>
        </p:nvPicPr>
        <p:blipFill>
          <a:blip r:embed="rId3"/>
          <a:srcRect t="3115" b="-4959"/>
          <a:stretch/>
        </p:blipFill>
        <p:spPr>
          <a:xfrm rot="10800000" flipH="1">
            <a:off x="4385520" y="-438552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28600" y="3983400"/>
            <a:ext cx="77036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28600" y="3983400"/>
            <a:ext cx="77036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29;p7"/>
          <p:cNvPicPr/>
          <p:nvPr/>
        </p:nvPicPr>
        <p:blipFill>
          <a:blip r:embed="rId2"/>
          <a:srcRect t="3115" b="-4959"/>
          <a:stretch/>
        </p:blipFill>
        <p:spPr>
          <a:xfrm rot="10800000" flipH="1">
            <a:off x="-4774680" y="-782424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body"/>
          </p:nvPr>
        </p:nvSpPr>
        <p:spPr>
          <a:xfrm>
            <a:off x="5900400" y="0"/>
            <a:ext cx="32432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228600" y="3809880"/>
            <a:ext cx="5222520" cy="83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61440" y="1756800"/>
            <a:ext cx="3672360" cy="162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0" name="Google Shape;35;p8"/>
          <p:cNvPicPr/>
          <p:nvPr/>
        </p:nvPicPr>
        <p:blipFill>
          <a:blip r:embed="rId2"/>
          <a:srcRect t="3115" b="-4959"/>
          <a:stretch/>
        </p:blipFill>
        <p:spPr>
          <a:xfrm flipH="1">
            <a:off x="3021120" y="-194220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Google Shape;36;p8"/>
          <p:cNvPicPr/>
          <p:nvPr/>
        </p:nvPicPr>
        <p:blipFill>
          <a:blip r:embed="rId3"/>
          <a:srcRect l="6383" r="6393"/>
          <a:stretch/>
        </p:blipFill>
        <p:spPr>
          <a:xfrm flipH="1">
            <a:off x="4167720" y="2436120"/>
            <a:ext cx="8813520" cy="5851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38;p9"/>
          <p:cNvPicPr/>
          <p:nvPr/>
        </p:nvPicPr>
        <p:blipFill>
          <a:blip r:embed="rId2"/>
          <a:srcRect t="3115" b="-4959"/>
          <a:stretch/>
        </p:blipFill>
        <p:spPr>
          <a:xfrm rot="10800000" flipH="1">
            <a:off x="4020840" y="-262224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367640" y="677880"/>
            <a:ext cx="6408720" cy="181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4969080" y="3721320"/>
            <a:ext cx="3946320" cy="88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99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02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109;p27"/>
          <p:cNvPicPr/>
          <p:nvPr/>
        </p:nvPicPr>
        <p:blipFill>
          <a:blip r:embed="rId2"/>
          <a:srcRect t="80" b="67"/>
          <a:stretch/>
        </p:blipFill>
        <p:spPr>
          <a:xfrm>
            <a:off x="-23040" y="0"/>
            <a:ext cx="918936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28600" y="3457440"/>
            <a:ext cx="8686440" cy="12380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Virtual Paint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6181560" y="447840"/>
            <a:ext cx="2733480" cy="7637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Draw in the air using finger tracking — AI ML internship project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1185526" y="884759"/>
            <a:ext cx="5667120" cy="363953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Virtual Paint — Draw in the Air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us</a:t>
            </a:r>
            <a:r>
              <a:rPr lang="en-US" sz="1200" b="1" dirty="0">
                <a:solidFill>
                  <a:schemeClr val="dk1"/>
                </a:solidFill>
                <a:latin typeface="Catamaran"/>
                <a:ea typeface="Catamaran"/>
              </a:rPr>
              <a:t>ing Finger Tracking</a:t>
            </a:r>
            <a:endParaRPr lang="en-US" sz="1200" b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Student: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Abhishek Kumar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Course: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BCA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i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Internship </a:t>
            </a:r>
            <a:r>
              <a:rPr lang="en-US" sz="1200" i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: 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AI ML Internship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College</a:t>
            </a:r>
            <a:r>
              <a:rPr lang="en-US" sz="1200" b="1" dirty="0">
                <a:solidFill>
                  <a:schemeClr val="dk1"/>
                </a:solidFill>
                <a:latin typeface="Catamaran"/>
                <a:ea typeface="Catamaran"/>
              </a:rPr>
              <a:t>: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IGNOU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Duration of Internship :</a:t>
            </a:r>
            <a:r>
              <a:rPr lang="en-US" sz="120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45 Days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Guide : </a:t>
            </a:r>
            <a:r>
              <a:rPr lang="en-US" sz="120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Shekhar Verma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1416114" y="-373305"/>
            <a:ext cx="2941200" cy="11262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Introduction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28600" y="3362400"/>
            <a:ext cx="434304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Introduction &amp; Context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4" name="Google Shape;140;p31"/>
          <p:cNvPicPr/>
          <p:nvPr/>
        </p:nvPicPr>
        <p:blipFill>
          <a:blip r:embed="rId2"/>
          <a:srcRect t="12052" b="12052"/>
          <a:stretch/>
        </p:blipFill>
        <p:spPr>
          <a:xfrm flipH="1">
            <a:off x="4888800" y="0"/>
            <a:ext cx="42552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DC90F8-6395-0BC6-B6A7-C5F4E627800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28600" y="111318"/>
            <a:ext cx="4255200" cy="514332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b="1" dirty="0">
                <a:latin typeface="Arial" panose="020B0604020202020204" pitchFamily="34" charset="0"/>
              </a:rPr>
              <a:t>Introduction 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Vision allows machines to understand visual input.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This project implements a touchless drawing system using hand gestures.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Real-time finger tracking is used to convert hand movement into digital strokes.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system improves natural interaction without physical input devices.</a:t>
            </a:r>
            <a:endParaRPr lang="en-IN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Bai Jamjuree"/>
              </a:rPr>
              <a:t>Problem Statement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0A75C-63AC-1930-6343-3442553DF719}"/>
              </a:ext>
            </a:extLst>
          </p:cNvPr>
          <p:cNvSpPr txBox="1"/>
          <p:nvPr/>
        </p:nvSpPr>
        <p:spPr>
          <a:xfrm>
            <a:off x="612250" y="1709530"/>
            <a:ext cx="73629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Traditional drawing requires mouse, stylus, or touch screen.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methods limit mobility and touchless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for an intuitive gesture-based drawing system using only a webcam.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solves this by implementing real-time fingertip tracking.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69bbd17a0e3de" descr="image69bbd17a0e3e4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86325B-C361-876B-E410-4C98FF59A7E1}"/>
              </a:ext>
            </a:extLst>
          </p:cNvPr>
          <p:cNvSpPr txBox="1"/>
          <p:nvPr/>
        </p:nvSpPr>
        <p:spPr>
          <a:xfrm>
            <a:off x="205740" y="419100"/>
            <a:ext cx="41833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 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 index finger in real time using </a:t>
            </a:r>
            <a:r>
              <a:rPr lang="en-US" dirty="0" err="1"/>
              <a:t>MediaPipe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virtual canvas for drawing.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gesture-based tool selection.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smooth drawing experience using stroke buffering.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color selection, eraser, and clear screen functionality.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BE1FEAC-9E57-8D5F-40DC-4B36342894DD}"/>
              </a:ext>
            </a:extLst>
          </p:cNvPr>
          <p:cNvSpPr txBox="1"/>
          <p:nvPr/>
        </p:nvSpPr>
        <p:spPr>
          <a:xfrm>
            <a:off x="1292087" y="1238035"/>
            <a:ext cx="66827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Technologies Used 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(Programming Language)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OpenCV (Image Processing &amp; UI Rendering)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MediaPipe</a:t>
            </a:r>
            <a:r>
              <a:rPr lang="en-IN" dirty="0"/>
              <a:t> (Hand Landmark Detection)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NumPy (Canvas Creation &amp; Frame Operations)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Webcam (Input Device)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ubTitle"/>
          </p:nvPr>
        </p:nvSpPr>
        <p:spPr>
          <a:xfrm>
            <a:off x="1506960" y="1341300"/>
            <a:ext cx="6631200" cy="3512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Workflow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Capture frame from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webcamDetect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hand landmarks using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MediaPipe</a:t>
            </a:r>
            <a:endParaRPr lang="en-US" sz="1600" b="0" u="none" strike="noStrike" dirty="0">
              <a:solidFill>
                <a:schemeClr val="dk1"/>
              </a:solidFill>
              <a:effectLst/>
              <a:uFillTx/>
              <a:latin typeface="Catamaran"/>
              <a:ea typeface="Catamar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Track index fingertip position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Recognize gesture (drawing / selection mode)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Draw strokes on virtual canvas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Merge canvas with live video output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495420" y="1260"/>
            <a:ext cx="6914880" cy="114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System Workflow</a:t>
            </a:r>
            <a:endParaRPr lang="fr-FR" sz="5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Bai Jamjuree"/>
              </a:rPr>
              <a:t>Features &amp; Implementation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Gesture-based drawing control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Multiple color palette selection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Eraser tool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Clear screen functionality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Smooth stroke rendering using deque buffer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Real-time FPS performance display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Wide HD interactive interface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85" name="image69bbd17a29234" descr="image69bbd17a29239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7D456-FA69-9C5E-8478-0ECC001D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ED9BCA0-9547-0E6A-8DC2-905696420B66}"/>
              </a:ext>
            </a:extLst>
          </p:cNvPr>
          <p:cNvSpPr txBox="1"/>
          <p:nvPr/>
        </p:nvSpPr>
        <p:spPr>
          <a:xfrm>
            <a:off x="1292087" y="1238035"/>
            <a:ext cx="66827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Challenges Faced :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MediaPipe</a:t>
            </a:r>
            <a:r>
              <a:rPr lang="en-IN" dirty="0"/>
              <a:t> installation issue (</a:t>
            </a:r>
            <a:r>
              <a:rPr lang="en-IN" dirty="0" err="1"/>
              <a:t>mp.solutions</a:t>
            </a:r>
            <a:r>
              <a:rPr lang="en-IN" dirty="0"/>
              <a:t> error due to Python version compatibility)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Gesture misclassification during fast hand movement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Jittery drawing strokes initially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UI interaction stability improvement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951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/>
          <p:cNvSpPr/>
          <p:nvPr/>
        </p:nvSpPr>
        <p:spPr>
          <a:xfrm>
            <a:off x="476280" y="-17904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Output : 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B6ABCA-6EA6-DDF0-9930-54C86C208ADA}"/>
              </a:ext>
            </a:extLst>
          </p:cNvPr>
          <p:cNvSpPr txBox="1"/>
          <p:nvPr/>
        </p:nvSpPr>
        <p:spPr>
          <a:xfrm>
            <a:off x="780553" y="872324"/>
            <a:ext cx="6694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virtual drawing successfully achieved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Smooth interaction using gesture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Responsive color selection and erasing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performs efficiently with stable FPS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49C985-1632-A111-0CFE-4CA048BC6E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" y="2230650"/>
            <a:ext cx="4023720" cy="26746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E7AB72-8D14-2A9B-EF51-6191A55471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633" y="2040267"/>
            <a:ext cx="4816367" cy="29716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166;p35"/>
          <p:cNvPicPr/>
          <p:nvPr/>
        </p:nvPicPr>
        <p:blipFill>
          <a:blip r:embed="rId2"/>
          <a:srcRect t="25711" b="25711"/>
          <a:stretch/>
        </p:blipFill>
        <p:spPr>
          <a:xfrm>
            <a:off x="0" y="0"/>
            <a:ext cx="9143640" cy="29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34766" y="245270"/>
            <a:ext cx="8524440" cy="75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Conclusions &amp; Future Scope :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309600" y="921110"/>
            <a:ext cx="8524440" cy="407562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1" u="sng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Conclusion:</a:t>
            </a:r>
          </a:p>
          <a:p>
            <a:pPr marL="514350" indent="-28575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Successfully developed gesture-based virtual painting system</a:t>
            </a:r>
          </a:p>
          <a:p>
            <a:pPr marL="514350" indent="-28575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Demonstrated real-time computer vision interaction</a:t>
            </a:r>
          </a:p>
          <a:p>
            <a:pPr marL="514350" indent="-28575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Achieved smooth drawing using stroke buffering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1" u="sng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Future Scope:</a:t>
            </a:r>
          </a:p>
          <a:p>
            <a:pPr marL="514350" indent="-28575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Brush size control using gestures</a:t>
            </a:r>
          </a:p>
          <a:p>
            <a:pPr marL="514350" indent="-28575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Save drawing feature</a:t>
            </a:r>
          </a:p>
          <a:p>
            <a:pPr marL="514350" indent="-28575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Multi-hand tracking</a:t>
            </a:r>
          </a:p>
          <a:p>
            <a:pPr marL="514350" indent="-28575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Improved lighting robustness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16100A"/>
      </a:lt1>
      <a:dk2>
        <a:srgbClr val="7A0013"/>
      </a:dk2>
      <a:lt2>
        <a:srgbClr val="BD641A"/>
      </a:lt2>
      <a:accent1>
        <a:srgbClr val="91E9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</TotalTime>
  <Words>381</Words>
  <Application>Microsoft Office PowerPoint</Application>
  <PresentationFormat>On-screen Show (16:9)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Bai Jamjuree</vt:lpstr>
      <vt:lpstr>Catamaran</vt:lpstr>
      <vt:lpstr>OpenSymbol</vt:lpstr>
      <vt:lpstr>Symbol</vt:lpstr>
      <vt:lpstr>Wingdings</vt:lpstr>
      <vt:lpstr>Tech Startup by Slidesgo</vt:lpstr>
      <vt:lpstr>Slidesgo Final Pages</vt:lpstr>
      <vt:lpstr>Virtual Paint</vt:lpstr>
      <vt:lpstr>Introduction</vt:lpstr>
      <vt:lpstr>Introduction &amp; Context</vt:lpstr>
      <vt:lpstr>PowerPoint Presentation</vt:lpstr>
      <vt:lpstr>PowerPoint Presentation</vt:lpstr>
      <vt:lpstr>PowerPoint Presentation</vt:lpstr>
      <vt:lpstr>System Workflow</vt:lpstr>
      <vt:lpstr>PowerPoint Presentation</vt:lpstr>
      <vt:lpstr>PowerPoint Presentation</vt:lpstr>
      <vt:lpstr>PowerPoint Presentation</vt:lpstr>
      <vt:lpstr>Conclusions &amp; Future Scope :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 Kumar</cp:lastModifiedBy>
  <cp:revision>18</cp:revision>
  <dcterms:modified xsi:type="dcterms:W3CDTF">2026-03-20T04:20:43Z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2026-03-19T10:35:28Z</dcterms:created>
  <dc:creator>Unknown Creator</dc:creator>
  <dc:description/>
  <dc:language>en-US</dc:language>
  <cp:lastModifiedBy>Unknown Creator</cp:lastModifiedBy>
  <dcterms:modified xsi:type="dcterms:W3CDTF">2026-03-19T10:35:28Z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